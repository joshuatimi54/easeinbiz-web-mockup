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c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Easeinbiz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858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FB3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Bold Momentum — our brand system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85800" y="3977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C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Colors, typography, components, and the rules that make every screen and every asset feel like one product.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1.0 · August 2026 · For designers and team members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229600" y="60350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8F4FA"/>
          </a:solidFill>
          <a:ln/>
        </p:spPr>
      </p:sp>
      <p:sp>
        <p:nvSpPr>
          <p:cNvPr id="8" name="Shape 5"/>
          <p:cNvSpPr/>
          <p:nvPr/>
        </p:nvSpPr>
        <p:spPr>
          <a:xfrm>
            <a:off x="8741664" y="60350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C7E5F4"/>
          </a:solidFill>
          <a:ln/>
        </p:spPr>
      </p:sp>
      <p:sp>
        <p:nvSpPr>
          <p:cNvPr id="9" name="Shape 6"/>
          <p:cNvSpPr/>
          <p:nvPr/>
        </p:nvSpPr>
        <p:spPr>
          <a:xfrm>
            <a:off x="9253728" y="60350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93CCE9"/>
          </a:solidFill>
          <a:ln/>
        </p:spPr>
      </p:sp>
      <p:sp>
        <p:nvSpPr>
          <p:cNvPr id="10" name="Shape 7"/>
          <p:cNvSpPr/>
          <p:nvPr/>
        </p:nvSpPr>
        <p:spPr>
          <a:xfrm>
            <a:off x="9765792" y="60350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AD2"/>
          </a:solidFill>
          <a:ln/>
        </p:spPr>
      </p:sp>
      <p:sp>
        <p:nvSpPr>
          <p:cNvPr id="11" name="Shape 8"/>
          <p:cNvSpPr/>
          <p:nvPr/>
        </p:nvSpPr>
        <p:spPr>
          <a:xfrm>
            <a:off x="10277856" y="60350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077B5"/>
          </a:solidFill>
          <a:ln/>
        </p:spPr>
      </p:sp>
      <p:sp>
        <p:nvSpPr>
          <p:cNvPr id="12" name="Shape 9"/>
          <p:cNvSpPr/>
          <p:nvPr/>
        </p:nvSpPr>
        <p:spPr>
          <a:xfrm>
            <a:off x="10789920" y="60350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05793"/>
          </a:solidFill>
          <a:ln/>
        </p:spPr>
      </p:sp>
      <p:sp>
        <p:nvSpPr>
          <p:cNvPr id="13" name="Shape 10"/>
          <p:cNvSpPr/>
          <p:nvPr/>
        </p:nvSpPr>
        <p:spPr>
          <a:xfrm>
            <a:off x="11301984" y="60350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FA5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PERSONALITY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Bold, but never loud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Easeinbiz says two things at once: “trust me with your money” and “I make running a business lighter.” Energetic ocean, soft shapes, calm behavior.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E8F4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79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Bold, not loud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Ocean carries the energy. Orange never competes with it — two loud colors shouting at once kills a bold brand.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3F8FB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83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Soft, not toy-like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32461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Rounded 10px corners, generous padding, shadows instead of borders — friendly physics around serious business data.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6E5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4E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Confident, not shouty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03920" y="32461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 speak quietly, delete buttons rest calm until reached for, and numbers do the talking.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57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one-line brief: calm at first glance, energetic on second look. Busy at first glance means off-brand.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LOGO &amp; WORDMARK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logo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DFE7EC"/>
            </a:solidFill>
            <a:prstDash val="solid"/>
          </a:ln>
        </p:spPr>
      </p:sp>
      <p:pic>
        <p:nvPicPr>
          <p:cNvPr id="5" name="Image 0" descr="/sessions/epic-bold-meitner/mnt/New-logo/png logos/easy in iz 2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880360"/>
            <a:ext cx="5394960" cy="1362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691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mark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35240" y="19842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wave in Ocean 600, wordmark in near-black. Use the provided files — never re-draw or re-type.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635240" y="2715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 dark or photos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0083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white / reversed variant from the logo kit, never the full-color version.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35240" y="37398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Icon only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35240" y="40325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wave alone for avatars, favicons, and app icons. Minimum 24px.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35240" y="47640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Clear space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35240" y="50566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one wave-bar height clear on all sides. Full logo minimum 110px wide.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stretch, re-color, add gradients or shadows to the mark.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COLOR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Ocean leads everything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Ocean 600 is the brand color — every primary action, every brand moment. Aim for the ocean family to hold 60–70% of any asset's color weight.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481328" cy="2011680"/>
          </a:xfrm>
          <a:prstGeom prst="roundRect">
            <a:avLst>
              <a:gd name="adj" fmla="val 6173"/>
            </a:avLst>
          </a:prstGeom>
          <a:solidFill>
            <a:srgbClr val="E8F4FA"/>
          </a:solidFill>
          <a:ln w="9525">
            <a:solidFill>
              <a:srgbClr val="DF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C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#E8F4FA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57984" y="2286000"/>
            <a:ext cx="1481328" cy="2011680"/>
          </a:xfrm>
          <a:prstGeom prst="roundRect">
            <a:avLst>
              <a:gd name="adj" fmla="val 6173"/>
            </a:avLst>
          </a:prstGeom>
          <a:solidFill>
            <a:srgbClr val="C7E5F4"/>
          </a:solidFill>
          <a:ln/>
        </p:spPr>
      </p:sp>
      <p:sp>
        <p:nvSpPr>
          <p:cNvPr id="9" name="Text 7"/>
          <p:cNvSpPr/>
          <p:nvPr/>
        </p:nvSpPr>
        <p:spPr>
          <a:xfrm>
            <a:off x="2267712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C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57984" y="44348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#C7E5F4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67328" y="2286000"/>
            <a:ext cx="1481328" cy="2011680"/>
          </a:xfrm>
          <a:prstGeom prst="roundRect">
            <a:avLst>
              <a:gd name="adj" fmla="val 6173"/>
            </a:avLst>
          </a:prstGeom>
          <a:solidFill>
            <a:srgbClr val="93CCE9"/>
          </a:solidFill>
          <a:ln/>
        </p:spPr>
      </p:sp>
      <p:sp>
        <p:nvSpPr>
          <p:cNvPr id="12" name="Text 10"/>
          <p:cNvSpPr/>
          <p:nvPr/>
        </p:nvSpPr>
        <p:spPr>
          <a:xfrm>
            <a:off x="3877056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C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67328" y="44348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#93CCE9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76672" y="2286000"/>
            <a:ext cx="1481328" cy="2011680"/>
          </a:xfrm>
          <a:prstGeom prst="roundRect">
            <a:avLst>
              <a:gd name="adj" fmla="val 6173"/>
            </a:avLst>
          </a:prstGeom>
          <a:solidFill>
            <a:srgbClr val="2E9AD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76672" y="44348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#2E9AD2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86016" y="2286000"/>
            <a:ext cx="1481328" cy="2011680"/>
          </a:xfrm>
          <a:prstGeom prst="roundRect">
            <a:avLst>
              <a:gd name="adj" fmla="val 6173"/>
            </a:avLst>
          </a:prstGeom>
          <a:solidFill>
            <a:srgbClr val="0077B5"/>
          </a:solidFill>
          <a:ln/>
        </p:spPr>
      </p:sp>
      <p:sp>
        <p:nvSpPr>
          <p:cNvPr id="18" name="Text 16"/>
          <p:cNvSpPr/>
          <p:nvPr/>
        </p:nvSpPr>
        <p:spPr>
          <a:xfrm>
            <a:off x="7095744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86016" y="44348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#0077B5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0" y="2286000"/>
            <a:ext cx="1481328" cy="2011680"/>
          </a:xfrm>
          <a:prstGeom prst="roundRect">
            <a:avLst>
              <a:gd name="adj" fmla="val 6173"/>
            </a:avLst>
          </a:prstGeom>
          <a:solidFill>
            <a:srgbClr val="005793"/>
          </a:solidFill>
          <a:ln/>
        </p:spPr>
      </p:sp>
      <p:sp>
        <p:nvSpPr>
          <p:cNvPr id="21" name="Text 19"/>
          <p:cNvSpPr/>
          <p:nvPr/>
        </p:nvSpPr>
        <p:spPr>
          <a:xfrm>
            <a:off x="8705088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0" y="44348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#005793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204704" y="2286000"/>
            <a:ext cx="1481328" cy="2011680"/>
          </a:xfrm>
          <a:prstGeom prst="roundRect">
            <a:avLst>
              <a:gd name="adj" fmla="val 6173"/>
            </a:avLst>
          </a:prstGeom>
          <a:solidFill>
            <a:srgbClr val="0B2C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314432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900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04704" y="44348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#0B2C3D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7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is primary. </a:t>
            </a:r>
            <a:pPr indent="0" marL="0">
              <a:buNone/>
            </a:pPr>
            <a:r>
              <a:rPr lang="en-US" sz="12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 is hover. Ink 900 anchors dark surfaces, hero cards, and this deck's covers. 50–200 are tints for fills, pills, and active states.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COLOR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Orange is a 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 marks what genuinely needs attention: pending states, alerts, promos, upgrades. It never fills large surfaces and never competes with ocean.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481328" cy="1600200"/>
          </a:xfrm>
          <a:prstGeom prst="roundRect">
            <a:avLst>
              <a:gd name="adj" fmla="val 6173"/>
            </a:avLst>
          </a:prstGeom>
          <a:solidFill>
            <a:srgbClr val="FFF6E5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136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#FFF6E5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57984" y="2240280"/>
            <a:ext cx="1481328" cy="1600200"/>
          </a:xfrm>
          <a:prstGeom prst="roundRect">
            <a:avLst>
              <a:gd name="adj" fmla="val 6173"/>
            </a:avLst>
          </a:prstGeom>
          <a:solidFill>
            <a:srgbClr val="FFE3B3"/>
          </a:solidFill>
          <a:ln/>
        </p:spPr>
      </p:sp>
      <p:sp>
        <p:nvSpPr>
          <p:cNvPr id="9" name="Text 7"/>
          <p:cNvSpPr/>
          <p:nvPr/>
        </p:nvSpPr>
        <p:spPr>
          <a:xfrm>
            <a:off x="2267712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57984" y="39136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#FFE3B3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67328" y="2240280"/>
            <a:ext cx="1481328" cy="1600200"/>
          </a:xfrm>
          <a:prstGeom prst="roundRect">
            <a:avLst>
              <a:gd name="adj" fmla="val 6173"/>
            </a:avLst>
          </a:prstGeom>
          <a:solidFill>
            <a:srgbClr val="FFA500"/>
          </a:solidFill>
          <a:ln/>
        </p:spPr>
      </p:sp>
      <p:sp>
        <p:nvSpPr>
          <p:cNvPr id="12" name="Text 10"/>
          <p:cNvSpPr/>
          <p:nvPr/>
        </p:nvSpPr>
        <p:spPr>
          <a:xfrm>
            <a:off x="3877056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67328" y="39136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#FFA500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76672" y="2240280"/>
            <a:ext cx="1481328" cy="1600200"/>
          </a:xfrm>
          <a:prstGeom prst="roundRect">
            <a:avLst>
              <a:gd name="adj" fmla="val 6173"/>
            </a:avLst>
          </a:prstGeom>
          <a:solidFill>
            <a:srgbClr val="B877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76672" y="39136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#B87700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06640" y="2240280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E8F4FA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79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rule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26680" y="2926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orange moment per view. If two things are orange, neither is urgent anymore.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it lives today: the sidebar upgrade button, “awaiting payment” pills, and overdue nudges. That's the whole list — keep it short.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COLOR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Neutrals and meaning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Neutrals are cool and ocean-tinted — never warm gray. Semantic colors are strictly reserved for meaning.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 w="9525">
            <a:solidFill>
              <a:srgbClr val="DF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#F4F7F9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29968" y="214884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E9EFF3"/>
          </a:solidFill>
          <a:ln w="9525">
            <a:solidFill>
              <a:srgbClr val="DF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84248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#E9EFF3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11296" y="214884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DFE7EC"/>
          </a:solidFill>
          <a:ln w="9525">
            <a:solidFill>
              <a:srgbClr val="DF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5576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#DFE7EC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92624" y="214884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64757F"/>
          </a:solidFill>
          <a:ln w="9525">
            <a:solidFill>
              <a:srgbClr val="DF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#64757F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73952" y="2148840"/>
            <a:ext cx="1353312" cy="1051560"/>
          </a:xfrm>
          <a:prstGeom prst="roundRect">
            <a:avLst>
              <a:gd name="adj" fmla="val 8696"/>
            </a:avLst>
          </a:prstGeom>
          <a:solidFill>
            <a:srgbClr val="1A2830"/>
          </a:solidFill>
          <a:ln w="9525">
            <a:solidFill>
              <a:srgbClr val="DF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#1A2830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0FA36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14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· money in, paid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41148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6A50F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4114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30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 · caution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23D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114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Danger · overdue, delete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41148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4FB3E8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4114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Periwinkle · charts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Tone-on-tone: colored text always sits on a tint of its own family — never black on a colored fill.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76072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F4F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760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7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Active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97480" y="576072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FFF6E5"/>
          </a:solidFill>
          <a:ln/>
        </p:spPr>
      </p:sp>
      <p:sp>
        <p:nvSpPr>
          <p:cNvPr id="27" name="Text 25"/>
          <p:cNvSpPr/>
          <p:nvPr/>
        </p:nvSpPr>
        <p:spPr>
          <a:xfrm>
            <a:off x="2697480" y="5760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4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Awaiting payment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576072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1F5EC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5760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50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Paid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95160" y="576072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5760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Overdue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TYPOGRAPHY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 speaks, Inter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297680"/>
          </a:xfrm>
          <a:prstGeom prst="roundRect">
            <a:avLst>
              <a:gd name="adj" fmla="val 2979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 800 — display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 700 — page titles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 600 — card headers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400 — body text, tables, and forms. The workhorse that carries every screen.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500 — UI labels and emphasis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400 muted — metadata, timestamps, helper 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1554480"/>
            <a:ext cx="3794760" cy="1828800"/>
          </a:xfrm>
          <a:prstGeom prst="roundRect">
            <a:avLst>
              <a:gd name="adj" fmla="val 6000"/>
            </a:avLst>
          </a:prstGeom>
          <a:solidFill>
            <a:srgbClr val="E8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79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15px rule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221284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Sora never appears below 15px. Small Sora gets tiring; keeping it big keeps it special.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83880" y="37947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fonts are free on Google Fonts: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fonts.google.com/specimen/Sora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fonts.google.com/specimen/Inter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FOUNDATIONS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Soft physics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Corners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14600" y="1691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10px controls and cards · 14px modals · pills only are fully round. Buttons are never pills.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Spacing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14600" y="2743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8 · 12 · 16 · 20 · 24 · 32. Generous padding is the default — when unsure, add space.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Elevation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3794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Shadows instead of borders, always ink-tinted rgba(11,44,61) — never pure black.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Fields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4846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filled #F9FCFE on #E9EFF3 hairline, ocean focus ring at 15%.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35240" y="1691640"/>
            <a:ext cx="4023360" cy="4114800"/>
          </a:xfrm>
          <a:prstGeom prst="roundRect">
            <a:avLst>
              <a:gd name="adj" fmla="val 3182"/>
            </a:avLst>
          </a:prstGeom>
          <a:solidFill>
            <a:srgbClr val="F4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001000" y="20574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C3D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2487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₦4.2M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0" y="2999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A3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+12.4%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01000" y="37490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0077B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3904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E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178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₦2.4M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0" y="4690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C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+18.9%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57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rule: at most ONE solid-ocean card per screen — the number that matters most.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COMPONENTS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button family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0077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— one per view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34640" y="1920240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E8F4FA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9202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7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88920" y="2743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— tinted ghost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0" y="1920240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F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9202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743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 — quiet actions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1920240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9202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60920" y="2743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Destructive — calm until hover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92640" y="1920240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FF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19202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46920" y="2743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 — rationed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873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Hover  </a:t>
            </a:r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deepens to Ocean 700. Destructive turns solid red — delete only screams when reached for.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97764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0873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Pressed  </a:t>
            </a:r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scales to 97% — a small tactile press.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2303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Disabled  </a:t>
            </a:r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Lightened tints of the same hue, never flat gray.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512064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52303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Loading  </a:t>
            </a:r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spinner, label goes present-tense: “Saving”.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COMPONENTS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How screens are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402336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9525">
            <a:solidFill>
              <a:srgbClr val="DF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3716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28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easeinbiz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2194560"/>
            <a:ext cx="1152144" cy="292608"/>
          </a:xfrm>
          <a:prstGeom prst="roundRect">
            <a:avLst>
              <a:gd name="adj" fmla="val 18750"/>
            </a:avLst>
          </a:prstGeom>
          <a:solidFill>
            <a:srgbClr val="E8F4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3273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Payroll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621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20240" y="1691640"/>
            <a:ext cx="3566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F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Invoices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819656"/>
            <a:ext cx="1005840" cy="329184"/>
          </a:xfrm>
          <a:prstGeom prst="roundRect">
            <a:avLst>
              <a:gd name="adj" fmla="val 19444"/>
            </a:avLst>
          </a:prstGeom>
          <a:solidFill>
            <a:srgbClr val="0077B5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8196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New invoice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03120" y="2514600"/>
            <a:ext cx="32004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C3D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INV-0142 · Dangote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0" y="276148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6E5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0" y="2761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4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28600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INV-0141 · Zenith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06240" y="344728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1F5EC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3447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2860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INV-0140 · Kobo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0" y="413308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Overdue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89320" y="1737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Sidebar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989320" y="207568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white, ocean-50 active pill. The orange upgrade card is its one permanent attention moment.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89320" y="2788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Topbar — action forward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989320" y="312724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Sora title left; exactly one primary button top-right. It is the screen's verb: New invoice, Run payroll.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989320" y="3840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Tables — airy lines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989320" y="417880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Roomy rows, hairline dividers, money right-aligned, status pills in-row.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89320" y="4892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Overlays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989320" y="523036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is a centered modal: 400 confirm · 560 form · 760 detail. Ink scrim at 45%.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GOLDEN RULES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Five rules, every asset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77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Ocean dominates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16642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60–70% of color weight. White and cool neutrals around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A5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Orange is rationed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259689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attention moment per view — two oranges means zero urgency.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77B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4930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 is big and rare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352958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Headlines, titles, hero numbers. Never below 15px, never body text.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77B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43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4256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hero per screen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446227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ocean card, one primary button, one orange moment.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7667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77B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76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3583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Never shout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53949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Errors, deletes, and alerts speak once, quietly, tone-on-tone.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57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in doubt: calm at first glance, energetic on second look.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Where the system lives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3232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design-system.html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23042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CC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living styleguide — every locked component, rendered and hoverable.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13232" y="3154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assets/css/theme.css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31729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CC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tokens. Copy values from here, never from screenshots.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DESIGN-JOURNAL.md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404164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CC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decision and the feeling behind it, round by round.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4892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Easeinbiz-Brand-Guide.pdf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9103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CC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in print form for designers — the companion to this deck.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→ Joshua · joshuatimi54@gmail.com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92640" y="5989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77B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8128" y="5989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A5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43616" y="5989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A36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19104" y="5989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23D3D"/>
          </a:solidFill>
          <a:ln/>
        </p:spPr>
      </p:sp>
      <p:sp>
        <p:nvSpPr>
          <p:cNvPr id="16" name="Shape 14"/>
          <p:cNvSpPr/>
          <p:nvPr/>
        </p:nvSpPr>
        <p:spPr>
          <a:xfrm>
            <a:off x="11594592" y="5989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FB3E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2026-08-03T00:21:23Z</dcterms:created>
  <dcterms:modified xsi:type="dcterms:W3CDTF">2026-08-03T00:21:23Z</dcterms:modified>
</cp:coreProperties>
</file>